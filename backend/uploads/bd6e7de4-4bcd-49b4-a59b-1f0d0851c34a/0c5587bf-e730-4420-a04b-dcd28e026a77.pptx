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72" r:id="rId5"/>
    <p:sldId id="257" r:id="rId6"/>
    <p:sldId id="258" r:id="rId7"/>
    <p:sldId id="259" r:id="rId8"/>
    <p:sldId id="260" r:id="rId9"/>
    <p:sldId id="274" r:id="rId10"/>
    <p:sldId id="267" r:id="rId11"/>
    <p:sldId id="261" r:id="rId12"/>
    <p:sldId id="262" r:id="rId13"/>
    <p:sldId id="263" r:id="rId14"/>
    <p:sldId id="266" r:id="rId15"/>
    <p:sldId id="273" r:id="rId16"/>
    <p:sldId id="27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03A"/>
    <a:srgbClr val="FDFFB9"/>
    <a:srgbClr val="FFFEE1"/>
    <a:srgbClr val="FFF0D5"/>
    <a:srgbClr val="FFDA71"/>
    <a:srgbClr val="F3C915"/>
    <a:srgbClr val="FFEE71"/>
    <a:srgbClr val="CC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78"/>
  </p:normalViewPr>
  <p:slideViewPr>
    <p:cSldViewPr snapToGrid="0" snapToObjects="1" showGuides="1">
      <p:cViewPr varScale="1">
        <p:scale>
          <a:sx n="60" d="100"/>
          <a:sy n="60" d="100"/>
        </p:scale>
        <p:origin x="819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transition>
    <p:wedg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edg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93663-DA0D-594F-B127-2FF27C03DA44}" type="datetimeFigureOut">
              <a:rPr lang="en-US" altLang="zh-CN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8F3AA-E4DC-2E46-86BB-7725940A8FB8}" type="slidenum">
              <a:rPr lang="en-US" altLang="zh-CN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edg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427703" y="1185863"/>
            <a:ext cx="8428704" cy="2639961"/>
          </a:xfrm>
          <a:prstGeom prst="rect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27703" y="1041400"/>
            <a:ext cx="9144000" cy="2387600"/>
          </a:xfrm>
        </p:spPr>
        <p:txBody>
          <a:bodyPr/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建筑中的数学模型</a:t>
            </a:r>
            <a:br>
              <a:rPr lang="en-US" altLang="zh-CN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</a:br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与美学的联系</a:t>
            </a:r>
            <a:endParaRPr lang="zh-CN" altLang="en-US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-147484" y="4041058"/>
            <a:ext cx="9144000" cy="1655762"/>
          </a:xfrm>
        </p:spPr>
        <p:txBody>
          <a:bodyPr/>
          <a:lstStyle/>
          <a:p>
            <a:endParaRPr lang="en-US" altLang="zh-CN" i="1" spc="300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01001" y="-442451"/>
            <a:ext cx="995515" cy="4483509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82878" y="6396037"/>
            <a:ext cx="42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335729" y="-206477"/>
            <a:ext cx="2344994" cy="5589638"/>
          </a:xfrm>
          <a:prstGeom prst="rect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366" y="4450235"/>
            <a:ext cx="3413267" cy="2493169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8362336" y="-848032"/>
            <a:ext cx="2521974" cy="2433484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  <p:bldP spid="3" grpId="0" build="p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624619" cy="6858000"/>
          </a:xfrm>
          <a:prstGeom prst="rect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2"/>
          <p:cNvSpPr txBox="1"/>
          <p:nvPr/>
        </p:nvSpPr>
        <p:spPr>
          <a:xfrm>
            <a:off x="206477" y="2241755"/>
            <a:ext cx="117809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kern="16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——</a:t>
            </a:r>
            <a:r>
              <a:rPr lang="zh-CN" altLang="en-US" sz="6000" kern="16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“在一定程度上，</a:t>
            </a:r>
            <a:endParaRPr lang="zh-CN" altLang="en-US" sz="6000" kern="1600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6000" kern="16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 </a:t>
            </a:r>
            <a:r>
              <a:rPr lang="en-US" altLang="zh-CN" sz="6000" kern="16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     </a:t>
            </a:r>
            <a:r>
              <a:rPr lang="zh-CN" altLang="en-US" sz="6000" kern="16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建筑就是数学的物质化表达”</a:t>
            </a:r>
            <a:endParaRPr lang="zh-CN" altLang="en-US" sz="6000" kern="1600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82878" y="6396037"/>
            <a:ext cx="42624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02</a:t>
            </a:r>
            <a:endParaRPr lang="zh-CN" altLang="en-US"/>
          </a:p>
        </p:txBody>
      </p: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39354" y="365125"/>
            <a:ext cx="6627056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目录</a:t>
            </a:r>
            <a:r>
              <a:rPr lang="en-US" altLang="zh-CN" sz="6000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Contents</a:t>
            </a:r>
            <a:endParaRPr lang="zh-CN" altLang="en-US" sz="6000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6644" y="2284016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u="sng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一、黄金比例</a:t>
            </a:r>
            <a:endParaRPr lang="en-US" altLang="zh-CN" sz="3200" b="1" u="sng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0" indent="0">
              <a:buNone/>
            </a:pPr>
            <a:endParaRPr lang="en-US" altLang="zh-CN" sz="3200" b="1" u="sng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0" indent="0">
              <a:buNone/>
            </a:pPr>
            <a:r>
              <a:rPr lang="zh-CN" altLang="en-US" sz="3200" b="1" u="sng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二、相似形</a:t>
            </a:r>
            <a:endParaRPr lang="en-US" altLang="zh-CN" sz="3200" b="1" u="sng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0" indent="0">
              <a:buNone/>
            </a:pPr>
            <a:endParaRPr lang="en-US" altLang="zh-CN" sz="3200" b="1" u="sng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0" indent="0">
              <a:buNone/>
            </a:pPr>
            <a:r>
              <a:rPr lang="zh-CN" altLang="en-US" sz="3200" b="1" u="sng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三、总结</a:t>
            </a:r>
            <a:endParaRPr lang="en-US" altLang="zh-CN" sz="3200" b="1" u="sng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5975" y="6401991"/>
            <a:ext cx="4917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-239354" y="365125"/>
            <a:ext cx="5771473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929" y="2078900"/>
            <a:ext cx="6096000" cy="30638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01929" y="6403182"/>
            <a:ext cx="4917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一、黄金比例</a:t>
            </a:r>
            <a:endParaRPr lang="zh-CN" altLang="en-US" sz="5400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28737" y="2078900"/>
            <a:ext cx="1773191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√5 -1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b="1" dirty="0">
                <a:solidFill>
                  <a:srgbClr val="FF0000"/>
                </a:solidFill>
              </a:rPr>
              <a:t>    2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4128737" y="2625213"/>
            <a:ext cx="1403382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439265" y="2078900"/>
            <a:ext cx="3745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32119" y="2332825"/>
            <a:ext cx="1843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≈</a:t>
            </a:r>
            <a:r>
              <a:rPr lang="en-US" altLang="zh-CN" sz="3200" b="1" dirty="0">
                <a:solidFill>
                  <a:srgbClr val="FF0000"/>
                </a:solidFill>
              </a:rPr>
              <a:t>0.618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  <p:bldP spid="21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239354" y="365125"/>
            <a:ext cx="6426794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15861"/>
            <a:ext cx="2851205" cy="523220"/>
          </a:xfrm>
        </p:spPr>
        <p:txBody>
          <a:bodyPr/>
          <a:lstStyle/>
          <a:p>
            <a:r>
              <a:rPr lang="zh-CN" altLang="en-US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胡夫金字塔</a:t>
            </a:r>
            <a:endParaRPr lang="zh-CN" altLang="en-US" dirty="0">
              <a:solidFill>
                <a:srgbClr val="03003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2991186"/>
            <a:ext cx="933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136÷220</a:t>
            </a:r>
            <a:r>
              <a:rPr lang="zh-CN" altLang="en-US" sz="28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≈ </a:t>
            </a:r>
            <a:r>
              <a:rPr lang="en-US" altLang="zh-CN" sz="28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0.6182</a:t>
            </a:r>
            <a:endParaRPr lang="zh-CN" altLang="en-US" sz="2800" b="1" dirty="0">
              <a:solidFill>
                <a:srgbClr val="03003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94169" y="6415901"/>
            <a:ext cx="52149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99" y="3667938"/>
            <a:ext cx="10240397" cy="2824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椭圆 9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83720"/>
          </a:xfrm>
        </p:spPr>
        <p:txBody>
          <a:bodyPr>
            <a:normAutofit/>
          </a:bodyPr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建筑中的黄金比例：</a:t>
            </a:r>
            <a:br>
              <a:rPr lang="en-US" altLang="zh-CN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br>
              <a:rPr lang="en-US" altLang="zh-CN" sz="1400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zh-CN" altLang="en-US" sz="32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金字塔：塔高</a:t>
            </a:r>
            <a:r>
              <a:rPr lang="en-US" altLang="zh-CN" sz="32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÷</a:t>
            </a:r>
            <a:r>
              <a:rPr lang="zh-CN" altLang="en-US" sz="32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边长≈</a:t>
            </a:r>
            <a:r>
              <a:rPr lang="en-US" altLang="zh-CN" sz="3200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0.618</a:t>
            </a:r>
            <a:endParaRPr lang="zh-CN" altLang="en-US" b="1" dirty="0">
              <a:solidFill>
                <a:srgbClr val="03003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build="p"/>
      <p:bldP spid="4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239354" y="365125"/>
            <a:ext cx="6823034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54906" y="2474893"/>
            <a:ext cx="10060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146÷230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≈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0.6347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59065" y="6402149"/>
            <a:ext cx="47386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7606"/>
            <a:ext cx="10063298" cy="27852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金字塔中的黄金比例</a:t>
            </a:r>
            <a:endParaRPr lang="zh-CN" altLang="en-US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3003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哈夫拉金字塔</a:t>
            </a:r>
            <a:endParaRPr lang="zh-CN" altLang="en-US" b="1" dirty="0">
              <a:solidFill>
                <a:srgbClr val="03003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02493" y="741631"/>
            <a:ext cx="2946329" cy="564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椭圆 4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2103" y="700934"/>
            <a:ext cx="6542977" cy="27275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515814" y="-383458"/>
            <a:ext cx="3416300" cy="45586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24831" y="254942"/>
            <a:ext cx="3987800" cy="43865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rcRect l="38567" r="37550" b="12934"/>
          <a:stretch>
            <a:fillRect/>
          </a:stretch>
        </p:blipFill>
        <p:spPr>
          <a:xfrm>
            <a:off x="4675371" y="2209244"/>
            <a:ext cx="1874520" cy="45612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59065" y="6402149"/>
            <a:ext cx="47386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07</a:t>
            </a:r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3522" y="1701760"/>
            <a:ext cx="5867400" cy="39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-239354" y="365125"/>
            <a:ext cx="4384633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84068" y="6385599"/>
            <a:ext cx="5095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08</a:t>
            </a: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二、相似形</a:t>
            </a:r>
            <a:endParaRPr lang="zh-CN" altLang="en-US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68857" y="1145858"/>
            <a:ext cx="3542318" cy="1089659"/>
          </a:xfrm>
          <a:scene3d>
            <a:camera prst="orthographicFront">
              <a:rot lat="0" lon="0" rev="20999999"/>
            </a:camera>
            <a:lightRig rig="threePt" dir="t"/>
          </a:scene3d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古埃及国王：</a:t>
            </a:r>
            <a:endParaRPr lang="en-US" altLang="zh-CN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金字塔究竟有多高？</a:t>
            </a:r>
            <a:endParaRPr lang="zh-CN" altLang="en-US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16" y="1298253"/>
            <a:ext cx="6974879" cy="50676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矩形 11"/>
          <p:cNvSpPr/>
          <p:nvPr/>
        </p:nvSpPr>
        <p:spPr>
          <a:xfrm>
            <a:off x="-239354" y="365125"/>
            <a:ext cx="4415113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59065" y="6365884"/>
            <a:ext cx="47386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09</a:t>
            </a:r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二、相似形</a:t>
            </a:r>
            <a:endParaRPr lang="zh-CN" altLang="en-US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239354" y="365125"/>
            <a:ext cx="4399873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97" y="3456516"/>
            <a:ext cx="6786799" cy="40657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76924" y="6348837"/>
            <a:ext cx="4381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二、相似形</a:t>
            </a:r>
            <a:endParaRPr lang="zh-CN" altLang="en-US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441" y="135099"/>
            <a:ext cx="4594782" cy="3798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-239354" y="365125"/>
            <a:ext cx="5603834" cy="1109714"/>
          </a:xfrm>
          <a:prstGeom prst="rect">
            <a:avLst/>
          </a:prstGeom>
          <a:solidFill>
            <a:srgbClr val="FFF0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76924" y="6348837"/>
            <a:ext cx="4381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1212716" y="-922020"/>
            <a:ext cx="1887855" cy="1844040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-852027" y="-383458"/>
            <a:ext cx="3008671" cy="2831690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740016" y="3933825"/>
            <a:ext cx="4710112" cy="4486275"/>
          </a:xfrm>
          <a:prstGeom prst="ellipse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0226992" y="3054668"/>
            <a:ext cx="2635568" cy="2645092"/>
          </a:xfrm>
          <a:prstGeom prst="ellipse">
            <a:avLst/>
          </a:prstGeom>
          <a:solidFill>
            <a:srgbClr val="FD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513696" y="-1753235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108056" y="-383458"/>
            <a:ext cx="245744" cy="7635875"/>
          </a:xfrm>
          <a:prstGeom prst="rect">
            <a:avLst/>
          </a:prstGeom>
          <a:solidFill>
            <a:srgbClr val="FFDA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三、总结与心得</a:t>
            </a:r>
            <a:endParaRPr lang="zh-CN" altLang="en-US" i="1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66770" y="2448232"/>
            <a:ext cx="8046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u="sng" spc="300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·</a:t>
            </a:r>
            <a:r>
              <a:rPr lang="zh-CN" altLang="en-US" sz="4000" i="1" u="sng" spc="300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数、形无处不在</a:t>
            </a:r>
            <a:endParaRPr lang="en-US" altLang="zh-CN" sz="4000" i="1" u="sng" spc="300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endParaRPr lang="en-US" altLang="zh-CN" sz="4000" i="1" u="sng" spc="300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en-US" altLang="zh-CN" sz="4000" i="1" u="sng" spc="300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·</a:t>
            </a:r>
            <a:r>
              <a:rPr lang="zh-CN" altLang="en-US" sz="4000" i="1" u="sng" spc="300" dirty="0">
                <a:solidFill>
                  <a:srgbClr val="03003A"/>
                </a:solidFill>
                <a:latin typeface="方正粗黑宋简体" pitchFamily="2" charset="-122"/>
                <a:ea typeface="方正粗黑宋简体" pitchFamily="2" charset="-122"/>
              </a:rPr>
              <a:t>数学与美学互相依存</a:t>
            </a:r>
            <a:endParaRPr lang="en-US" altLang="zh-CN" sz="4000" i="1" u="sng" spc="300" dirty="0">
              <a:solidFill>
                <a:srgbClr val="03003A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624619" cy="6858000"/>
          </a:xfrm>
          <a:prstGeom prst="rect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7418" y="1799303"/>
            <a:ext cx="12315313" cy="17138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4400" dirty="0">
                <a:latin typeface="方正粗黑宋简体" pitchFamily="2" charset="-122"/>
                <a:ea typeface="方正粗黑宋简体" pitchFamily="2" charset="-122"/>
                <a:sym typeface="+mn-ea"/>
              </a:rPr>
              <a:t>   </a:t>
            </a:r>
            <a:r>
              <a:rPr kumimoji="1" lang="zh-CN" altLang="en-US" sz="4400" i="1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  <a:sym typeface="+mn-ea"/>
              </a:rPr>
              <a:t>“</a:t>
            </a:r>
            <a:r>
              <a:rPr kumimoji="1" lang="zh-CN" altLang="en-US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  <a:sym typeface="+mn-ea"/>
              </a:rPr>
              <a:t>我始终没将它作为数学教本来读，</a:t>
            </a:r>
            <a:endParaRPr kumimoji="1" lang="en-US" altLang="zh-CN" sz="4400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  <a:sym typeface="+mn-ea"/>
              </a:rPr>
              <a:t>却引为歌剧，诗，哲学，宇宙之舞来欣赏”。</a:t>
            </a:r>
            <a:endParaRPr kumimoji="1" lang="zh-CN" altLang="en-US" sz="4400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                            </a:t>
            </a:r>
            <a:r>
              <a:rPr kumimoji="1" lang="en-US" altLang="zh-CN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----《</a:t>
            </a:r>
            <a:r>
              <a:rPr kumimoji="1" lang="zh-CN" altLang="en-US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几何原本</a:t>
            </a:r>
            <a:r>
              <a:rPr kumimoji="1" lang="en-US" altLang="zh-CN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》</a:t>
            </a:r>
            <a:r>
              <a:rPr kumimoji="1" lang="zh-CN" altLang="en-US" sz="44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序言</a:t>
            </a:r>
            <a:endParaRPr kumimoji="1" lang="en-US" altLang="zh-CN" sz="4400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76924" y="6348837"/>
            <a:ext cx="4381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/>
              <a:t>12</a:t>
            </a:r>
            <a:endParaRPr lang="zh-CN" altLang="en-US" dirty="0"/>
          </a:p>
        </p:txBody>
      </p:sp>
    </p:spTree>
  </p:cSld>
  <p:clrMapOvr>
    <a:masterClrMapping/>
  </p:clrMapOvr>
  <p:transition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624619" cy="6858000"/>
          </a:xfrm>
          <a:prstGeom prst="rect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42617" y="2103120"/>
            <a:ext cx="12315313" cy="17138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6000" spc="300" dirty="0">
                <a:solidFill>
                  <a:srgbClr val="0300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感谢聆听！</a:t>
            </a:r>
            <a:endParaRPr kumimoji="1" lang="en-US" altLang="zh-CN" sz="6000" spc="300" dirty="0">
              <a:solidFill>
                <a:srgbClr val="0300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76924" y="6348837"/>
            <a:ext cx="4381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/>
              <a:t>12</a:t>
            </a:r>
            <a:endParaRPr lang="zh-CN" altLang="en-US" dirty="0"/>
          </a:p>
        </p:txBody>
      </p:sp>
    </p:spTree>
  </p:cSld>
  <p:clrMapOvr>
    <a:masterClrMapping/>
  </p:clrMapOvr>
  <p:transition>
    <p:wedg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WPS 文字</Application>
  <PresentationFormat>宽屏</PresentationFormat>
  <Paragraphs>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方正粗黑宋简体</vt:lpstr>
      <vt:lpstr>汉仪书宋二KW</vt:lpstr>
      <vt:lpstr>华文中宋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华文中宋</vt:lpstr>
      <vt:lpstr>方正粗黑宋简体</vt:lpstr>
      <vt:lpstr>Office 主题​​</vt:lpstr>
      <vt:lpstr>1_Office 主题​​</vt:lpstr>
      <vt:lpstr>建筑中的数学模型 与美学的联系</vt:lpstr>
      <vt:lpstr>PowerPoint 演示文稿</vt:lpstr>
      <vt:lpstr>目录Contents</vt:lpstr>
      <vt:lpstr>一、黄金比例</vt:lpstr>
      <vt:lpstr>建筑中的黄金比例：  金字塔：塔高÷边长≈0.618</vt:lpstr>
      <vt:lpstr>金字塔中的黄金比例</vt:lpstr>
      <vt:lpstr>PowerPoint 演示文稿</vt:lpstr>
      <vt:lpstr>PowerPoint 演示文稿</vt:lpstr>
      <vt:lpstr>二、相似形</vt:lpstr>
      <vt:lpstr>二、相似形</vt:lpstr>
      <vt:lpstr>二、相似形</vt:lpstr>
      <vt:lpstr>三、总结与心得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金字塔中的数学模型</dc:title>
  <dc:creator>未知用户</dc:creator>
  <cp:lastModifiedBy>Jerry</cp:lastModifiedBy>
  <cp:revision>38</cp:revision>
  <dcterms:created xsi:type="dcterms:W3CDTF">2026-04-15T03:35:08Z</dcterms:created>
  <dcterms:modified xsi:type="dcterms:W3CDTF">2026-04-15T03:35:08Z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B8B7FB11EAF74597AD573297661665C4</vt:lpwstr>
  </property>
  <property fmtid="{D5CDD505-2E9C-101B-9397-08002B2CF9AE}" pid="3" name="KSOProductBuildVer">
    <vt:lpwstr>2052-12.1.24031.24031</vt:lpwstr>
  </property>
</Properties>
</file>